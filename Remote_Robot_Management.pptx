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5"/>
  </p:notesMasterIdLst>
  <p:sldIdLst>
    <p:sldId id="257" r:id="rId4"/>
    <p:sldId id="261" r:id="rId5"/>
    <p:sldId id="274" r:id="rId6"/>
    <p:sldId id="273" r:id="rId7"/>
    <p:sldId id="267" r:id="rId8"/>
    <p:sldId id="272" r:id="rId9"/>
    <p:sldId id="266" r:id="rId10"/>
    <p:sldId id="268" r:id="rId11"/>
    <p:sldId id="276" r:id="rId12"/>
    <p:sldId id="275" r:id="rId13"/>
    <p:sldId id="271" r:id="rId14"/>
  </p:sldIdLst>
  <p:sldSz cx="10969625" cy="6170613"/>
  <p:notesSz cx="6858000" cy="9144000"/>
  <p:custDataLst>
    <p:tags r:id="rId16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38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7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MS/EVC-CE1-XC | 2025-05-27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Bosch Global Software Technologies Private Limited 2025.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  <p:sldLayoutId id="2147483756" r:id="rId21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BBDB-F942-0C46-AF06-F449E7483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3188" y="2150554"/>
            <a:ext cx="9087252" cy="1254364"/>
          </a:xfrm>
        </p:spPr>
        <p:txBody>
          <a:bodyPr>
            <a:normAutofit/>
          </a:bodyPr>
          <a:lstStyle/>
          <a:p>
            <a:pPr lvl="0"/>
            <a:r>
              <a:rPr lang="en-US" sz="3600" dirty="0"/>
              <a:t>S4 : Remote Robot Management </a:t>
            </a:r>
            <a:br>
              <a:rPr lang="en-US" sz="3600" dirty="0"/>
            </a:br>
            <a:r>
              <a:rPr lang="en-US" sz="3600" dirty="0"/>
              <a:t>        Cloud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5098C-8EA1-686A-9AD8-5A29BD10E3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63188" y="3638598"/>
            <a:ext cx="9358637" cy="1804650"/>
          </a:xfrm>
        </p:spPr>
        <p:txBody>
          <a:bodyPr>
            <a:normAutofit/>
          </a:bodyPr>
          <a:lstStyle/>
          <a:p>
            <a:pPr marL="0" lvl="0" indent="0">
              <a:lnSpc>
                <a:spcPct val="87000"/>
              </a:lnSpc>
              <a:buNone/>
            </a:pPr>
            <a:r>
              <a:rPr lang="en-US" sz="2000" b="1" dirty="0"/>
              <a:t>Team Tech Titans: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lnSpc>
                <a:spcPct val="87000"/>
              </a:lnSpc>
              <a:buFont typeface="Arial" pitchFamily="34"/>
              <a:buChar char="•"/>
            </a:pPr>
            <a:r>
              <a:rPr lang="sv-SE" dirty="0">
                <a:solidFill>
                  <a:srgbClr val="252424"/>
                </a:solidFill>
                <a:latin typeface="Segoe UI" pitchFamily="34"/>
              </a:rPr>
              <a:t>Vasista Prabhakar Mukthinuthalapati (MS/EVC-CE2-XC)</a:t>
            </a:r>
            <a:endParaRPr lang="en-US" dirty="0">
              <a:solidFill>
                <a:srgbClr val="252424"/>
              </a:solidFill>
              <a:latin typeface="Segoe UI" pitchFamily="34"/>
            </a:endParaRPr>
          </a:p>
          <a:p>
            <a:pPr marL="342900" lvl="0" indent="-342900">
              <a:lnSpc>
                <a:spcPct val="87000"/>
              </a:lnSpc>
              <a:buFont typeface="Arial" pitchFamily="34"/>
              <a:buChar char="•"/>
            </a:pPr>
            <a:r>
              <a:rPr lang="en-US" dirty="0">
                <a:solidFill>
                  <a:srgbClr val="252424"/>
                </a:solidFill>
                <a:latin typeface="Segoe UI" pitchFamily="34"/>
              </a:rPr>
              <a:t>Shaik Reshma (MS/EVC-CE2-XC)</a:t>
            </a:r>
          </a:p>
          <a:p>
            <a:pPr marL="342900" lvl="0" indent="-342900">
              <a:lnSpc>
                <a:spcPct val="87000"/>
              </a:lnSpc>
              <a:buFont typeface="Arial" pitchFamily="34"/>
              <a:buChar char="•"/>
            </a:pPr>
            <a:r>
              <a:rPr lang="en-US" dirty="0">
                <a:solidFill>
                  <a:srgbClr val="252424"/>
                </a:solidFill>
                <a:latin typeface="Segoe UI" pitchFamily="34"/>
              </a:rPr>
              <a:t>Tejesh Gowd Gollapalli (MS/EVC-CE2-XC)</a:t>
            </a:r>
          </a:p>
          <a:p>
            <a:pPr marL="342900" indent="-342900">
              <a:lnSpc>
                <a:spcPct val="87000"/>
              </a:lnSpc>
              <a:buFont typeface="Arial" pitchFamily="34"/>
              <a:buChar char="•"/>
            </a:pPr>
            <a:r>
              <a:rPr lang="it-IT" dirty="0">
                <a:solidFill>
                  <a:srgbClr val="252424"/>
                </a:solidFill>
                <a:latin typeface="Segoe UI" pitchFamily="34"/>
              </a:rPr>
              <a:t>Durga Praneetha Appana (</a:t>
            </a:r>
            <a:r>
              <a:rPr lang="en-US" dirty="0">
                <a:solidFill>
                  <a:srgbClr val="252424"/>
                </a:solidFill>
                <a:latin typeface="Segoe UI" pitchFamily="34"/>
              </a:rPr>
              <a:t>MS/EBS2-SWC</a:t>
            </a:r>
            <a:r>
              <a:rPr lang="it-IT" dirty="0">
                <a:solidFill>
                  <a:srgbClr val="252424"/>
                </a:solidFill>
                <a:latin typeface="Segoe UI" pitchFamily="34"/>
              </a:rPr>
              <a:t>)</a:t>
            </a:r>
          </a:p>
          <a:p>
            <a:pPr marL="342900" lvl="0" indent="-342900">
              <a:lnSpc>
                <a:spcPct val="87000"/>
              </a:lnSpc>
              <a:buFont typeface="Arial" pitchFamily="34"/>
              <a:buChar char="•"/>
            </a:pPr>
            <a:endParaRPr lang="en-US" sz="2000" b="1" dirty="0">
              <a:solidFill>
                <a:srgbClr val="252424"/>
              </a:solidFill>
              <a:latin typeface="Segoe UI" pitchFamily="34"/>
            </a:endParaRPr>
          </a:p>
          <a:p>
            <a:pPr marL="342900" lvl="0" indent="-342900">
              <a:lnSpc>
                <a:spcPct val="87000"/>
              </a:lnSpc>
              <a:buFont typeface="Arial" pitchFamily="34"/>
              <a:buChar char="•"/>
            </a:pPr>
            <a:endParaRPr lang="en-US" sz="2000" dirty="0">
              <a:solidFill>
                <a:srgbClr val="252424"/>
              </a:solidFill>
              <a:latin typeface="Segoe UI" pitchFamily="34"/>
            </a:endParaRPr>
          </a:p>
          <a:p>
            <a:pPr marL="0" lvl="0" indent="0">
              <a:lnSpc>
                <a:spcPct val="8700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011AB7-FFDC-0C72-95D2-462F6A090E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42453" y="530196"/>
            <a:ext cx="6078528" cy="569698"/>
          </a:xfrm>
        </p:spPr>
        <p:txBody>
          <a:bodyPr anchorCtr="1"/>
          <a:lstStyle/>
          <a:p>
            <a:pPr marL="0" lvl="0" indent="0" algn="ctr">
              <a:lnSpc>
                <a:spcPct val="89000"/>
              </a:lnSpc>
              <a:spcBef>
                <a:spcPts val="0"/>
              </a:spcBef>
              <a:buNone/>
            </a:pPr>
            <a:r>
              <a:rPr lang="en-US" sz="3600" b="1" kern="0" dirty="0"/>
              <a:t>Problem Statement</a:t>
            </a:r>
            <a:endParaRPr lang="en-US" sz="3600" b="1" u="sng" kern="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23FDFE7-AE52-6BB0-079A-2C93860C5937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3E874AC-51BF-4053-ACBF-2CB2CB691F0E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2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D5F0B-3844-DC41-EAF1-7CB876734613}"/>
              </a:ext>
            </a:extLst>
          </p:cNvPr>
          <p:cNvSpPr txBox="1"/>
          <p:nvPr/>
        </p:nvSpPr>
        <p:spPr>
          <a:xfrm>
            <a:off x="1091247" y="1343818"/>
            <a:ext cx="39772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Friendly Website with full monitoring of the Robot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Remote Robot operations using Tele-operated Driving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Remote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Kinematics assessment and path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 parameters logging with cycle counter, battery status</a:t>
            </a:r>
            <a:endParaRPr lang="en-US" dirty="0">
              <a:latin typeface="+mn-l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8DC026F-DF87-3B3C-C69D-331E18BDD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360" y="1343818"/>
            <a:ext cx="3823018" cy="383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37E2-D0D2-71A7-FA91-B3431A34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EA0F62-896E-3713-A82B-60C4FA676EA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42453" y="530196"/>
            <a:ext cx="6078528" cy="569698"/>
          </a:xfrm>
        </p:spPr>
        <p:txBody>
          <a:bodyPr anchorCtr="1"/>
          <a:lstStyle/>
          <a:p>
            <a:pPr marL="0" lvl="0" indent="0" algn="ctr">
              <a:lnSpc>
                <a:spcPct val="89000"/>
              </a:lnSpc>
              <a:spcBef>
                <a:spcPts val="0"/>
              </a:spcBef>
              <a:buNone/>
            </a:pPr>
            <a:r>
              <a:rPr lang="en-US" sz="3600" b="1" kern="0"/>
              <a:t>Solution Overview</a:t>
            </a:r>
            <a:endParaRPr lang="en-US" sz="2800" kern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14E2DFE-5BBB-1281-E2F8-19CFF20992EA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3E874AC-51BF-4053-ACBF-2CB2CB691F0E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3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98D35-FD2D-1181-D58E-19490B6A4031}"/>
              </a:ext>
            </a:extLst>
          </p:cNvPr>
          <p:cNvSpPr txBox="1"/>
          <p:nvPr/>
        </p:nvSpPr>
        <p:spPr>
          <a:xfrm>
            <a:off x="599440" y="1524000"/>
            <a:ext cx="9621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+mn-lt"/>
              </a:rPr>
              <a:t>We developed S4 – Remote Robot Management System, a web-based control center that provides:</a:t>
            </a:r>
          </a:p>
          <a:p>
            <a:pPr>
              <a:buNone/>
            </a:pPr>
            <a:endParaRPr lang="en-US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 Real-time telemetry (position, battery, health, speed)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 Robot path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 Tele-operation controls (Forward, Backward, Right, Left)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Webots</a:t>
            </a:r>
            <a:r>
              <a:rPr lang="en-US" dirty="0">
                <a:latin typeface="+mn-lt"/>
              </a:rPr>
              <a:t> virtual robot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 Mobile-friendly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 Live logs &amp; system events</a:t>
            </a:r>
          </a:p>
        </p:txBody>
      </p:sp>
    </p:spTree>
    <p:extLst>
      <p:ext uri="{BB962C8B-B14F-4D97-AF65-F5344CB8AC3E}">
        <p14:creationId xmlns:p14="http://schemas.microsoft.com/office/powerpoint/2010/main" val="38619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0463-7AA2-500D-FCFC-6CD4F7D0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314BFE-9F64-C894-0A06-902CDEE77C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45548" y="652116"/>
            <a:ext cx="6078528" cy="569698"/>
          </a:xfrm>
        </p:spPr>
        <p:txBody>
          <a:bodyPr anchorCtr="1"/>
          <a:lstStyle/>
          <a:p>
            <a:pPr marL="0" lvl="0" indent="0" algn="ctr">
              <a:lnSpc>
                <a:spcPct val="89000"/>
              </a:lnSpc>
              <a:spcBef>
                <a:spcPts val="0"/>
              </a:spcBef>
              <a:buNone/>
            </a:pPr>
            <a:r>
              <a:rPr lang="en-US" sz="3600" b="1" kern="0" dirty="0"/>
              <a:t>Solution Approach</a:t>
            </a:r>
            <a:endParaRPr lang="en-US" sz="2800" kern="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5E6DD7B-5DDB-D59E-E6A1-5EB6E8436B1E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3E874AC-51BF-4053-ACBF-2CB2CB691F0E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4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EDAA6-EB9E-613F-E7BE-E59B4E7864A3}"/>
              </a:ext>
            </a:extLst>
          </p:cNvPr>
          <p:cNvSpPr txBox="1"/>
          <p:nvPr/>
        </p:nvSpPr>
        <p:spPr>
          <a:xfrm>
            <a:off x="843280" y="1605280"/>
            <a:ext cx="9621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a </a:t>
            </a:r>
            <a:r>
              <a:rPr lang="en-US" b="1" dirty="0" err="1"/>
              <a:t>Webots</a:t>
            </a:r>
            <a:r>
              <a:rPr lang="en-US" b="1" dirty="0"/>
              <a:t> virtual robot</a:t>
            </a:r>
            <a:r>
              <a:rPr lang="en-US" dirty="0"/>
              <a:t> (Python controller)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a </a:t>
            </a:r>
            <a:r>
              <a:rPr lang="en-US" b="1" dirty="0"/>
              <a:t>Node.js WebSocket backend</a:t>
            </a:r>
            <a:r>
              <a:rPr lang="en-US" dirty="0"/>
              <a:t> for bi-directional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a </a:t>
            </a:r>
            <a:r>
              <a:rPr lang="en-US" b="1" dirty="0"/>
              <a:t>React + Tailwind frontend</a:t>
            </a:r>
            <a:r>
              <a:rPr lang="en-US" dirty="0"/>
              <a:t> for a clean control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orientation-based movement (human-like robot motion)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logs, health, telemetry, and path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Ensured clean UI layout for easy monitoring</a:t>
            </a:r>
          </a:p>
        </p:txBody>
      </p:sp>
    </p:spTree>
    <p:extLst>
      <p:ext uri="{BB962C8B-B14F-4D97-AF65-F5344CB8AC3E}">
        <p14:creationId xmlns:p14="http://schemas.microsoft.com/office/powerpoint/2010/main" val="205130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98EC8-E0E0-F58C-E1C4-73E19BEC0CEF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E3E3DAB-E5A8-4442-80CE-0A5AF8C6BA46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5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3" name="TextBox 164">
            <a:extLst>
              <a:ext uri="{FF2B5EF4-FFF2-40B4-BE49-F238E27FC236}">
                <a16:creationId xmlns:a16="http://schemas.microsoft.com/office/drawing/2014/main" id="{3739BB49-4880-8785-2F0F-247D9317308A}"/>
              </a:ext>
            </a:extLst>
          </p:cNvPr>
          <p:cNvSpPr txBox="1"/>
          <p:nvPr/>
        </p:nvSpPr>
        <p:spPr>
          <a:xfrm>
            <a:off x="3658450" y="169209"/>
            <a:ext cx="3168633" cy="6215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Bosch Office Sans"/>
              </a:rPr>
              <a:t>Flow Chart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Bosch Office Sans" pitchFamily="3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695E60-5048-6B5A-A063-34455E52B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399" y="660843"/>
            <a:ext cx="2374734" cy="521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97C60-006A-769D-1D6A-142ED2E9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DD77E-3081-20B4-C128-363C39D56343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E3E3DAB-E5A8-4442-80CE-0A5AF8C6BA46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6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3" name="TextBox 164">
            <a:extLst>
              <a:ext uri="{FF2B5EF4-FFF2-40B4-BE49-F238E27FC236}">
                <a16:creationId xmlns:a16="http://schemas.microsoft.com/office/drawing/2014/main" id="{82E87754-7D6C-E5DD-7D63-63667E5D83F3}"/>
              </a:ext>
            </a:extLst>
          </p:cNvPr>
          <p:cNvSpPr txBox="1"/>
          <p:nvPr/>
        </p:nvSpPr>
        <p:spPr>
          <a:xfrm>
            <a:off x="3658450" y="169209"/>
            <a:ext cx="3168633" cy="6215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 dirty="0">
                <a:solidFill>
                  <a:srgbClr val="000000"/>
                </a:solidFill>
                <a:uFillTx/>
                <a:latin typeface="Bosch Office Sans"/>
              </a:rPr>
              <a:t>Architecture Diagram</a:t>
            </a:r>
            <a:endParaRPr lang="en-US" sz="1800" b="1" i="0" u="none" strike="noStrike" kern="1200" cap="none" spc="0" baseline="0" dirty="0">
              <a:solidFill>
                <a:srgbClr val="000000"/>
              </a:solidFill>
              <a:uFillTx/>
              <a:latin typeface="Bosch Office Sans" pitchFamily="34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7F6F0B-AFDF-3CE0-07E7-339A0DB67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806" y="857265"/>
            <a:ext cx="6429993" cy="480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48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9F0833-CC60-CA2C-A15D-4AEDF1B83590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8573C63-A839-47D4-A2AC-32419185767C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7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E629CE-F06C-BE74-A58C-B3BEA1DF9B3B}"/>
              </a:ext>
            </a:extLst>
          </p:cNvPr>
          <p:cNvSpPr txBox="1"/>
          <p:nvPr/>
        </p:nvSpPr>
        <p:spPr>
          <a:xfrm>
            <a:off x="3591818" y="341482"/>
            <a:ext cx="3777752" cy="6215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 dirty="0">
                <a:solidFill>
                  <a:srgbClr val="000000"/>
                </a:solidFill>
                <a:uFillTx/>
                <a:latin typeface="Bosch Office Sans"/>
              </a:rPr>
              <a:t>Solution Artifacts</a:t>
            </a:r>
            <a:endParaRPr lang="en-US" sz="1800" b="1" i="0" u="none" strike="noStrike" kern="1200" cap="none" spc="0" baseline="0" dirty="0">
              <a:solidFill>
                <a:srgbClr val="000000"/>
              </a:solidFill>
              <a:uFillTx/>
              <a:latin typeface="Bosch Office Sans" pitchFamily="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763F5-B242-D8B5-9DD1-FD91DB8D544D}"/>
              </a:ext>
            </a:extLst>
          </p:cNvPr>
          <p:cNvSpPr txBox="1"/>
          <p:nvPr/>
        </p:nvSpPr>
        <p:spPr>
          <a:xfrm>
            <a:off x="757178" y="1117600"/>
            <a:ext cx="45869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Webots</a:t>
            </a:r>
            <a:r>
              <a:rPr lang="en-US" b="1" dirty="0"/>
              <a:t> Robot Simulation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TurtleBot3/E-Puck robot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 Python Controller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Realistic orientation-based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Backend System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Node.js + WebSocket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Telemetry + Command routing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Frontend Dashboard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Live Telemetry Panel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Robot Path 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Tele-Operation Controls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Live Logs Panel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Mobile-friendly 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68FED-6E4F-A892-B33C-B4375EE1687D}"/>
              </a:ext>
            </a:extLst>
          </p:cNvPr>
          <p:cNvSpPr txBox="1"/>
          <p:nvPr/>
        </p:nvSpPr>
        <p:spPr>
          <a:xfrm>
            <a:off x="5483225" y="1117600"/>
            <a:ext cx="5486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Integration Components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JSON data schemas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WebSocket message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End-to-end synchronized robot loop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Documentation &amp; Diagrams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Architecture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Flowchart (PUML)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System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5E55A-CBEE-5403-F7CD-6647BA807567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75185D8-AD03-41AA-881F-02DA53FF8A9C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8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EB7AE-8D2B-88DF-B95A-0142D7800EFC}"/>
              </a:ext>
            </a:extLst>
          </p:cNvPr>
          <p:cNvSpPr txBox="1"/>
          <p:nvPr/>
        </p:nvSpPr>
        <p:spPr>
          <a:xfrm>
            <a:off x="2760300" y="202350"/>
            <a:ext cx="6710205" cy="553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 dirty="0">
                <a:solidFill>
                  <a:srgbClr val="000000"/>
                </a:solidFill>
                <a:uFillTx/>
                <a:latin typeface="Bosch Office Sans"/>
              </a:rPr>
              <a:t>Implementation Results</a:t>
            </a:r>
            <a:endParaRPr lang="en-US" sz="3600" b="1" i="0" u="none" strike="noStrike" kern="1200" cap="none" spc="0" baseline="0" dirty="0">
              <a:solidFill>
                <a:srgbClr val="000000"/>
              </a:solidFill>
              <a:uFillTx/>
              <a:latin typeface="Bosch Office Sans" pitchFamily="34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D5BE8A5-79A5-F1CA-282E-81148307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18" y="1107123"/>
            <a:ext cx="3205162" cy="324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AD85C96-DB62-68BF-697C-955EC734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100" y="1107123"/>
            <a:ext cx="3456284" cy="324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26B4911-C7FF-A6AB-861D-2D2BC7053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982" y="890763"/>
            <a:ext cx="2778125" cy="484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832E-F620-9DCD-882F-C91CE367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857E1-CBD2-E032-D531-DAACC717E6F9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75185D8-AD03-41AA-881F-02DA53FF8A9C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9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C980E-16CA-7885-86DC-EC61F15E0448}"/>
              </a:ext>
            </a:extLst>
          </p:cNvPr>
          <p:cNvSpPr txBox="1"/>
          <p:nvPr/>
        </p:nvSpPr>
        <p:spPr>
          <a:xfrm>
            <a:off x="2760300" y="202350"/>
            <a:ext cx="6710205" cy="553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 dirty="0">
                <a:solidFill>
                  <a:srgbClr val="000000"/>
                </a:solidFill>
                <a:uFillTx/>
                <a:latin typeface="Bosch Office Sans"/>
              </a:rPr>
              <a:t>Implementation Results</a:t>
            </a:r>
            <a:endParaRPr lang="en-US" sz="3600" b="1" i="0" u="none" strike="noStrike" kern="1200" cap="none" spc="0" baseline="0" dirty="0">
              <a:solidFill>
                <a:srgbClr val="000000"/>
              </a:solidFill>
              <a:uFillTx/>
              <a:latin typeface="Bosch Office Sans" pitchFamily="34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0553735-1719-4AC4-BD3C-E558723AE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081" y="1095027"/>
            <a:ext cx="8463280" cy="199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49A52B4-3E7E-E090-FB7D-7F8B27AA3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081" y="3423985"/>
            <a:ext cx="43148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F43102D3-6E3F-FF1D-DD2D-EC02D3959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24175"/>
            <a:ext cx="3830225" cy="191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09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DD96-65F2-7667-4416-3EABA940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700D95-E92B-282B-1EC4-DF2D9FD5774D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75185D8-AD03-41AA-881F-02DA53FF8A9C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10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03B6F-0529-2A97-12C7-B8DBED0D9CEC}"/>
              </a:ext>
            </a:extLst>
          </p:cNvPr>
          <p:cNvSpPr txBox="1"/>
          <p:nvPr/>
        </p:nvSpPr>
        <p:spPr>
          <a:xfrm>
            <a:off x="3202282" y="283630"/>
            <a:ext cx="4565060" cy="553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 dirty="0">
                <a:solidFill>
                  <a:srgbClr val="000000"/>
                </a:solidFill>
                <a:uFillTx/>
                <a:latin typeface="Bosch Office Sans"/>
              </a:rPr>
              <a:t>Challenges Faced</a:t>
            </a:r>
            <a:endParaRPr lang="en-US" sz="3600" b="1" i="0" u="none" strike="noStrike" kern="1200" cap="none" spc="0" baseline="0" dirty="0">
              <a:solidFill>
                <a:srgbClr val="000000"/>
              </a:solidFill>
              <a:uFillTx/>
              <a:latin typeface="Bosch Office Sans" pitchFamily="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2CD87-A9F6-413E-D3D6-998C2114C97B}"/>
              </a:ext>
            </a:extLst>
          </p:cNvPr>
          <p:cNvSpPr txBox="1"/>
          <p:nvPr/>
        </p:nvSpPr>
        <p:spPr>
          <a:xfrm>
            <a:off x="995680" y="1209039"/>
            <a:ext cx="8727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Real-time synchronization:</a:t>
            </a:r>
            <a:br>
              <a:rPr lang="en-US" dirty="0"/>
            </a:br>
            <a:r>
              <a:rPr lang="en-US" dirty="0"/>
              <a:t>  Ensuring </a:t>
            </a:r>
            <a:r>
              <a:rPr lang="en-US" dirty="0" err="1"/>
              <a:t>Webots</a:t>
            </a:r>
            <a:r>
              <a:rPr lang="en-US" dirty="0"/>
              <a:t> → Backend → Frontend updates without lag.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Orientation-based movement:</a:t>
            </a:r>
            <a:br>
              <a:rPr lang="en-US" dirty="0"/>
            </a:br>
            <a:r>
              <a:rPr lang="en-US" dirty="0"/>
              <a:t>  Converting world-axis movement to realistic robot-local movement.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WebSocket reliability:</a:t>
            </a:r>
            <a:br>
              <a:rPr lang="en-US" dirty="0"/>
            </a:br>
            <a:r>
              <a:rPr lang="en-US" dirty="0"/>
              <a:t> Managing dropped connections, reconnection logic, and message ordering.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Path visualization scaling:</a:t>
            </a:r>
            <a:br>
              <a:rPr lang="en-US" dirty="0"/>
            </a:br>
            <a:r>
              <a:rPr lang="en-US" dirty="0"/>
              <a:t>  Ensuring robot trail renders accurately on varying UI sizes.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Responsive UI:</a:t>
            </a:r>
            <a:br>
              <a:rPr lang="en-US" dirty="0"/>
            </a:br>
            <a:r>
              <a:rPr lang="en-US" dirty="0"/>
              <a:t>  Making complex telemetry panels mobile-friendly.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Testing in simulation:</a:t>
            </a:r>
            <a:br>
              <a:rPr lang="en-US" dirty="0"/>
            </a:br>
            <a:r>
              <a:rPr lang="en-US" dirty="0"/>
              <a:t>  Simulating sensor data, cycles, and battery drain consistently.</a:t>
            </a:r>
          </a:p>
        </p:txBody>
      </p:sp>
    </p:spTree>
    <p:extLst>
      <p:ext uri="{BB962C8B-B14F-4D97-AF65-F5344CB8AC3E}">
        <p14:creationId xmlns:p14="http://schemas.microsoft.com/office/powerpoint/2010/main" val="280253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011150-E130-01C9-502D-12875B8AD275}"/>
              </a:ext>
            </a:extLst>
          </p:cNvPr>
          <p:cNvSpPr txBox="1"/>
          <p:nvPr/>
        </p:nvSpPr>
        <p:spPr>
          <a:xfrm>
            <a:off x="205200" y="5666399"/>
            <a:ext cx="288292" cy="41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8866761-BAC8-496F-8487-81A565F37968}" type="slidenum">
              <a:rPr lang="en-US" sz="1200" b="0" i="0" u="none" strike="noStrike" kern="1200" cap="none" spc="0" baseline="0">
                <a:solidFill>
                  <a:srgbClr val="999FA6"/>
                </a:solidFill>
                <a:uFillTx/>
                <a:latin typeface="Bosch Office Sans"/>
              </a:rPr>
              <a:t>11</a:t>
            </a:fld>
            <a:endParaRPr lang="en-US" sz="1200" b="0" i="0" u="none" strike="noStrike" kern="1200" cap="none" spc="0" baseline="0">
              <a:solidFill>
                <a:srgbClr val="999FA6"/>
              </a:solidFill>
              <a:uFillTx/>
              <a:latin typeface="Bosch Offic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3866A-8C85-2325-32C7-EB16DCFB01A4}"/>
              </a:ext>
            </a:extLst>
          </p:cNvPr>
          <p:cNvSpPr txBox="1"/>
          <p:nvPr/>
        </p:nvSpPr>
        <p:spPr>
          <a:xfrm>
            <a:off x="2995016" y="2218883"/>
            <a:ext cx="5171910" cy="1015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600" b="1" i="0" u="none" strike="noStrike" kern="0" cap="none" spc="0" baseline="0">
                <a:solidFill>
                  <a:srgbClr val="000000"/>
                </a:solidFill>
                <a:uFillTx/>
                <a:latin typeface="Bosch Office Sans"/>
              </a:rPr>
              <a:t>THANK YOU</a:t>
            </a:r>
            <a:endParaRPr lang="en-US" sz="6600" b="1" i="0" u="none" strike="noStrike" kern="0" cap="none" spc="0" baseline="0">
              <a:solidFill>
                <a:srgbClr val="000000"/>
              </a:solidFill>
              <a:uFillTx/>
              <a:latin typeface="Bosch Office Sans" pitchFamily="3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1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BD6EC1D4-B152-4B75-85DB-48DC16B7ED8A}" vid="{233A9649-CE92-4BEC-B45F-441AA90A900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MS/EVC-CE1-XC</OrgInhalt>
      <Wert>MS/EVC-CE1-XC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Bosch Global Software Technologies Private Limited 2025. All rights reserved, also regarding any disposal, exploitation, reproduction, editing, distribution, as well as in the event of applications for industrial property rights.</OrgInhalt>
      <Wert>© Bosch Global Software Technologies Private Limited 2025.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2025-05-27</OrgInhalt>
      <Wert>2025-05-27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363</TotalTime>
  <Words>380</Words>
  <Application>Microsoft Office PowerPoint</Application>
  <PresentationFormat>Custom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Bosch Office Sans</vt:lpstr>
      <vt:lpstr>Calibri</vt:lpstr>
      <vt:lpstr>Segoe UI</vt:lpstr>
      <vt:lpstr>Symbol</vt:lpstr>
      <vt:lpstr>Wingdings</vt:lpstr>
      <vt:lpstr>Bosch 2024</vt:lpstr>
      <vt:lpstr>S4 : Remote Robot Management          Cloud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Durga Praneetha Appana (MS/EVC-CE1-XC)</dc:creator>
  <cp:lastModifiedBy>Durga Praneetha Appana (MS/EBS2-SWC)</cp:lastModifiedBy>
  <cp:revision>40</cp:revision>
  <dcterms:created xsi:type="dcterms:W3CDTF">2025-05-27T06:42:50Z</dcterms:created>
  <dcterms:modified xsi:type="dcterms:W3CDTF">2025-11-30T21:54:55Z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